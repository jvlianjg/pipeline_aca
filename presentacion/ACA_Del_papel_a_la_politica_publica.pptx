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les muestro un sistema que ya está corriendo y que responde una pregunta que ACA se ha hecho por décadas: ¿nuestras ideas llegan a la política pública? 12 láminas, 12 minutos, y al final un demo en vivo si el tiempo lo permite.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dolores reales: anécdotas, falta de seguimiento sistemático, y subestimación del valor. La cita de la derecha es la pregunta que guio todo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tecnicismos: parecido en el tema, coincidencia en las propuestas, y tiempo correcto. La regla de oro — política posterior — evita atribuir influencia imposible hacia atrás.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Leemos, extraemos con IA copiando palabra por palabra — y lo verificamos: si una frase no está en el PDF, el sistema la marca. Luego compara. Lo caro se paga una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para recordar: 24, 677, 96%, y la primera política real conectada. El 96% es la cifra de calidad: casi todas las frases extraídas existen literalmente en los documentos.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dashboard resume el corpus. Todo lo etiquetado 'real' viene del procesamiento — lo que es ilustrativo está marcado como 'ejemplo'. Transparencia ante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historia completa: ACA publicó en abril 2024; el país presentó su contribución climática 19 meses después. El sistema encontró la coincidencia más alta de todo el corpus — y el estudio literalmente pedía 'que la legislatura conciba una ley de hidrógeno verde', que hoy se debate en el Congreso como expediente 22392.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de cajas negras: la evidencia es textual, par por par, con su puntaje. Y cada propuesta puede revisarse contra el PDF original desde la propia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lo que nos diferencia de un demo bonito: temporalidad causal estricta, verificación literal de cada frase, y transparencia real/ejemplo. Las metodología completa está documentada y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horizontes. Lo importante del 'próximo': ya identificamos las fuentes oficiales y el mecanismo está listo — cada política nueva que entra, se compara en minutos. El ICI mide canales: audiencias, citaciones, menciones.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decisiones concretas. La número 3 es deliberadamente pequeña: el costo mensual es menor que una cena. La 4 convierte el piloto en un activo institucional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invitar al demo en vivo con la plataforma, y abrir la discusión sobre las cuatro decisiones.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03120"/>
            <a:ext cx="5943600" cy="5943600"/>
          </a:xfrm>
          <a:prstGeom prst="ellipse">
            <a:avLst/>
          </a:prstGeom>
          <a:solidFill>
            <a:srgbClr val="2C4A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3291840" cy="3291840"/>
          </a:xfrm>
          <a:prstGeom prst="ellipse">
            <a:avLst/>
          </a:prstGeom>
          <a:solidFill>
            <a:srgbClr val="3A8B8C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DE CENTROAMÉRICA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papel a la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pública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Inteligencia para medir el impacto de las ideas de ACA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leyes, decretos y estrategias del país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5257800"/>
            <a:ext cx="2011680" cy="0"/>
          </a:xfrm>
          <a:prstGeom prst="line">
            <a:avLst/>
          </a:prstGeom>
          <a:noFill/>
          <a:ln w="31750">
            <a:solidFill>
              <a:srgbClr val="3A8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la Junta Directiva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Influir no basta: hay que poder demostrarlo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5270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 contada con anécdotas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92938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ACA aporta a una política, la historia sobrevive en conversaciones y correos — no en evidencia.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081528"/>
            <a:ext cx="384048" cy="384048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30083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conecta publicación → política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34107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seguimiento sistemático entre lo que publicamos y lo que el Estado decide después.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562856"/>
            <a:ext cx="384048" cy="384048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48970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evidencia, el valor se subestima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8920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juntas, financiadores y socios, el impacto de ACA queda en palabras cuando podría estar en datos.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52360" y="1737360"/>
            <a:ext cx="4206240" cy="4023360"/>
          </a:xfrm>
          <a:prstGeom prst="roundRect">
            <a:avLst>
              <a:gd name="adj" fmla="val 2727"/>
            </a:avLst>
          </a:prstGeom>
          <a:solidFill>
            <a:srgbClr val="22384D"/>
          </a:solidFill>
          <a:ln/>
          <a:effectLst>
            <a:outerShdw sx="100000" sy="100000" kx="0" ky="0" algn="bl" rotWithShape="0" blurRad="88900" dist="25400" dir="2700000">
              <a:srgbClr val="1A2B3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2668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3A8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7772400" y="251460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¿Nuestras recomendaciones aparecen en leyes, decretos y estrategias públicas?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el sistema responde, publicación por publicación.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termómetro de influencia: el Índice de Impacto de Ideas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publicación de ACA y cada política pública posterior, medimos </a:t>
            </a:r>
            <a:pPr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parecidos dicen lo mismo</a:t>
            </a:r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una regla de oro: la política tiene que ser </a:t>
            </a:r>
            <a:pPr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publicación.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AF4F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parecido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política trata del mismo asunto que el estudio?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233172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E9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99432" y="2651760"/>
            <a:ext cx="457200" cy="457200"/>
          </a:xfrm>
          <a:prstGeom prst="ellipse">
            <a:avLst/>
          </a:prstGeom>
          <a:solidFill>
            <a:srgbClr val="1E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coincidentes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¿Dice —con otras palabras— lo que ACA recomendó?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47304" y="233172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FBF3E6"/>
          </a:solidFill>
          <a:ln/>
        </p:spPr>
      </p:sp>
      <p:sp>
        <p:nvSpPr>
          <p:cNvPr id="18" name="Shape 16"/>
          <p:cNvSpPr/>
          <p:nvPr/>
        </p:nvSpPr>
        <p:spPr>
          <a:xfrm>
            <a:off x="8421624" y="2651760"/>
            <a:ext cx="457200" cy="457200"/>
          </a:xfrm>
          <a:prstGeom prst="ellipse">
            <a:avLst/>
          </a:prstGeom>
          <a:solidFill>
            <a:srgbClr val="D4953A"/>
          </a:solidFill>
          <a:ln/>
        </p:spPr>
      </p:sp>
      <p:sp>
        <p:nvSpPr>
          <p:cNvPr id="19" name="Text 17"/>
          <p:cNvSpPr/>
          <p:nvPr/>
        </p:nvSpPr>
        <p:spPr>
          <a:xfrm>
            <a:off x="8421624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21624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correcto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21624" y="36576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política se publicó después? Cuanto más cerca, más plausible la influencia.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21624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4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TEMPORALIDAD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 =  ⅓ Alineación  +  ⅓ Coincidencia  +  ⅓ Temporalidad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pasos, sin intervención manual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sx="100000" sy="100000" kx="0" ky="0" algn="bl" rotWithShape="0" blurRad="88900" dist="25400" dir="2700000">
              <a:srgbClr val="1A2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LEEMOS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estudios de ACA procesados: 1,554 páginas convertidas a texto legible por máquina.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87368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sx="100000" sy="100000" kx="0" ky="0" algn="bl" rotWithShape="0" blurRad="88900" dist="25400" dir="2700000">
              <a:srgbClr val="1A2B3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057400"/>
            <a:ext cx="502920" cy="502920"/>
          </a:xfrm>
          <a:prstGeom prst="ellipse">
            <a:avLst/>
          </a:prstGeom>
          <a:solidFill>
            <a:srgbClr val="1E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EXTRAEMOS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 recomendaciones, copiadas palabra por palabra. El 96% se verifica automáticamente contra el PDF original.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65008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58200" y="17373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  <a:effectLst>
            <a:outerShdw sx="100000" sy="100000" kx="0" ky="0" algn="bl" rotWithShape="0" blurRad="88900" dist="25400" dir="2700000">
              <a:srgbClr val="1A2B3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78240" y="2057400"/>
            <a:ext cx="502920" cy="502920"/>
          </a:xfrm>
          <a:prstGeom prst="ellipse">
            <a:avLst/>
          </a:prstGeom>
          <a:solidFill>
            <a:srgbClr val="D4953A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7824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D4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COMPARAMOS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78240" y="32004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recomendación se contrasta con las políticas oficiales publicadas después, y el sistema entrega la evidencia textual.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53492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procesamiento pesado se hace una sola vez; después, cada política nueva que entra al sistema se compara en minutos.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EXISTE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está construido — y corriendo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4F6F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574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8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del corpus procesados de punta a punta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4F6F5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20574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677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39312" y="3246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extraídas y catalogadas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18504" y="182880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4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318504" y="20574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9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547104" y="3246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verificadas palabra por palabra contra el PDF original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26296" y="182880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F4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226296" y="20574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3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454896" y="324612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real ya vinculada (NDC 2025–2035) — la primera de muchas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1663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la plataforma web completa (dashboard, análisis, auditoría y configuración) y el primer vínculo publicación→política calculado con evidencia textual.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impacto, explorable en una pantalla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81328" y="1481328"/>
            <a:ext cx="9235440" cy="4864608"/>
          </a:xfrm>
          <a:prstGeom prst="roundRect">
            <a:avLst>
              <a:gd name="adj" fmla="val 1128"/>
            </a:avLst>
          </a:prstGeom>
          <a:solidFill>
            <a:srgbClr val="FFFFFF"/>
          </a:solidFill>
          <a:ln w="15875">
            <a:solidFill>
              <a:srgbClr val="E3E7EA"/>
            </a:solidFill>
            <a:prstDash val="solid"/>
          </a:ln>
          <a:effectLst>
            <a:outerShdw sx="100000" sy="100000" kx="0" ky="0" algn="bl" rotWithShape="0" blurRad="88900" dist="25400" dir="2700000">
              <a:srgbClr val="1A2B3C">
                <a:alpha val="18000"/>
              </a:srgbClr>
            </a:outerShdw>
          </a:effectLst>
        </p:spPr>
      </p:sp>
      <p:pic>
        <p:nvPicPr>
          <p:cNvPr id="5" name="Image 0" descr="img/01_dashboard.png">    </p:cNvPr>
          <p:cNvPicPr>
            <a:picLocks noChangeAspect="1"/>
          </p:cNvPicPr>
          <p:nvPr/>
        </p:nvPicPr>
        <p:blipFill>
          <a:blip r:embed="rId1"/>
          <a:srcRect l="-9866" r="-9866" t="0" b="0"/>
          <a:stretch/>
        </p:blipFill>
        <p:spPr>
          <a:xfrm>
            <a:off x="1527048" y="1527048"/>
            <a:ext cx="9144000" cy="4773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64008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ejecutivo: KPIs reales del corpus, temáticas y distribución del índice. Lo que ven es lo que hay: cada dato marcado “real” proviene del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HALLAZGO REAL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Hidrógeno verde: del estudio de ACA a la política nacional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340864"/>
            <a:ext cx="9966960" cy="0"/>
          </a:xfrm>
          <a:prstGeom prst="line">
            <a:avLst/>
          </a:prstGeom>
          <a:noFill/>
          <a:ln w="31750">
            <a:solidFill>
              <a:srgbClr val="E3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212848"/>
            <a:ext cx="256032" cy="256032"/>
          </a:xfrm>
          <a:prstGeom prst="ellipse">
            <a:avLst/>
          </a:prstGeom>
          <a:solidFill>
            <a:srgbClr val="1E7A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2024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 publica el estudio de hidrógeno verde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2212848"/>
            <a:ext cx="256032" cy="256032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 presenta la NDC 2025–2035 ante la ONU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469880" y="2212848"/>
            <a:ext cx="256032" cy="256032"/>
          </a:xfrm>
          <a:prstGeom prst="ellipse">
            <a:avLst/>
          </a:prstGeom>
          <a:solidFill>
            <a:srgbClr val="D495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4984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encuentra 19 meses después la coincidencia más alta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9F4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77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 70.4%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7724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vínculo más alto de las 24 publicaciones — y con la distancia temporal correcta (19 meses).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37947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0233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temática: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86/100 en la escala del propio corpus.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coincidentes: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79/100 contra las medidas de la NDC.
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Congreso debate la 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hidrógeno verde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el estudio pidió explícitamente.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coincidencia se lee — y se puede verificar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7635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5875">
            <a:solidFill>
              <a:srgbClr val="E3E7EA"/>
            </a:solidFill>
            <a:prstDash val="solid"/>
          </a:ln>
          <a:effectLst>
            <a:outerShdw sx="100000" sy="100000" kx="0" ky="0" algn="bl" rotWithShape="0" blurRad="88900" dist="25400" dir="2700000">
              <a:srgbClr val="1A2B3C">
                <a:alpha val="18000"/>
              </a:srgbClr>
            </a:outerShdw>
          </a:effectLst>
        </p:spPr>
      </p:sp>
      <p:pic>
        <p:nvPicPr>
          <p:cNvPr id="5" name="Image 0" descr="img/03_tarjeta_politi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27048"/>
            <a:ext cx="75438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897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muestra los tres componentes, el índice final y los pares de evidencia: la frase del estudio y la frase de la política.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595360" y="1481328"/>
            <a:ext cx="3063240" cy="4297680"/>
          </a:xfrm>
          <a:prstGeom prst="roundRect">
            <a:avLst>
              <a:gd name="adj" fmla="val 2985"/>
            </a:avLst>
          </a:prstGeom>
          <a:solidFill>
            <a:srgbClr val="EAF4F4"/>
          </a:solidFill>
          <a:ln/>
        </p:spPr>
      </p:sp>
      <p:sp>
        <p:nvSpPr>
          <p:cNvPr id="8" name="Text 5"/>
          <p:cNvSpPr/>
          <p:nvPr/>
        </p:nvSpPr>
        <p:spPr>
          <a:xfrm>
            <a:off x="886968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par #1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69680" y="2103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ACA: “…hoja de ruta que sugiere enfocarse inicialmente en el transporte…”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869680" y="3063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NDC: “Política de Incentivo al Transporte Público, que contemple subvenciones…”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696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semántica 0.63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69680" y="47091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clic, el PDF original se abre al lado para revisión humana.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sistema se niega a hacer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causalidad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202996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política es anterior a la publicación, el índice es cero — automáticamente. La influencia hacia atrás no existe.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457200" cy="457200"/>
          </a:xfrm>
          <a:prstGeom prst="ellipse">
            <a:avLst/>
          </a:prstGeom>
          <a:solidFill>
            <a:srgbClr val="1E7A5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Aceptarse la palabra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3000" y="358444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recomendación se verifica palabra por palabra contra su PDF; la frase que no está en el documento queda marcada.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800600"/>
            <a:ext cx="457200" cy="457200"/>
          </a:xfrm>
          <a:prstGeom prst="ellipse">
            <a:avLst/>
          </a:prstGeom>
          <a:solidFill>
            <a:srgbClr val="D495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Maquillar datos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etiqueta cada dato como real o de ejemplo. Nada se presenta como medido si no lo fue.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269480" y="1600200"/>
            <a:ext cx="438912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5875">
            <a:solidFill>
              <a:srgbClr val="E3E7EA"/>
            </a:solidFill>
            <a:prstDash val="solid"/>
          </a:ln>
          <a:effectLst>
            <a:outerShdw sx="100000" sy="100000" kx="0" ky="0" algn="bl" rotWithShape="0" blurRad="88900" dist="25400" dir="2700000">
              <a:srgbClr val="1A2B3C">
                <a:alpha val="18000"/>
              </a:srgbClr>
            </a:outerShdw>
          </a:effectLst>
        </p:spPr>
      </p:sp>
      <p:pic>
        <p:nvPicPr>
          <p:cNvPr id="17" name="Image 0" descr="img/04_auditor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1645920"/>
            <a:ext cx="4297680" cy="4251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269480" y="5989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auditoría: metodología y fórmulas abiertas.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piloto probado a un sistema de vigilancia continua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9F4F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Cápsulas de conocimiento: qué recomendar, a quién, para qué</a:t>
            </a:r>
            <a:endParaRPr lang="en-US" sz="1300" dirty="0"/>
          </a:p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literal automática de propuestas</a:t>
            </a:r>
            <a:endParaRPr lang="en-US" sz="1300" dirty="0"/>
          </a:p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vínculo real con política (NDC)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6459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AF4F4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9432" y="237744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hidrógeno verde (exp. 22392) y más políticas oficiales</a:t>
            </a:r>
            <a:endParaRPr lang="en-US" sz="1300" dirty="0"/>
          </a:p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sistemáticas: Asamblea, La Gaceta, ministerios</a:t>
            </a:r>
            <a:endParaRPr lang="en-US" sz="1300" dirty="0"/>
          </a:p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Cápsulas para las 24 publicaciones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47304" y="16459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BF3E6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21624" y="237744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ICI: índice de canales de influencia (quién escucha a ACA)</a:t>
            </a:r>
            <a:endParaRPr lang="en-US" sz="1300" dirty="0"/>
          </a:p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de nuevas coincidencias</a:t>
            </a:r>
            <a:endParaRPr lang="en-US" sz="1300" dirty="0"/>
          </a:p>
          <a:p>
            <a:pPr marL="152400" indent="-152400">
              <a:lnSpc>
                <a:spcPts val="17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trimestral de impacto para la Junta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necesitamos de esta Junta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4F6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38912" cy="438912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las prioridades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231343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las políticas e instituciones a vigilar — partimos del plan de 14 instituciones ya definido.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4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965960"/>
            <a:ext cx="438912" cy="438912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las puertas oficiales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23760" y="231343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o contactos para acceso sistemático a Asamblea Legislativa, La Gaceta y ministerios.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4F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114800"/>
            <a:ext cx="438912" cy="438912"/>
          </a:xfrm>
          <a:prstGeom prst="ellipse">
            <a:avLst/>
          </a:prstGeom>
          <a:solidFill>
            <a:srgbClr val="3A8B8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0416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operacional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17320" y="446227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con IA del orden de US$10–15 al mes. El desarrollo pesado ya está pagado.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E9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114800"/>
            <a:ext cx="438912" cy="438912"/>
          </a:xfrm>
          <a:prstGeom prst="ellipse">
            <a:avLst/>
          </a:prstGeom>
          <a:solidFill>
            <a:srgbClr val="1E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0416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para la fase 2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23760" y="4462272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trimestral con informe de impacto a la Junta — el sistema ya produce la materia prima.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3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023360"/>
            <a:ext cx="5943600" cy="5943600"/>
          </a:xfrm>
          <a:prstGeom prst="ellipse">
            <a:avLst/>
          </a:prstGeom>
          <a:solidFill>
            <a:srgbClr val="2C4A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4114800" cy="4114800"/>
          </a:xfrm>
          <a:prstGeom prst="ellipse">
            <a:avLst/>
          </a:prstGeom>
          <a:solidFill>
            <a:srgbClr val="3A8B8C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ideas de ACA ya influyen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política pública.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podemos demostrarlo — propuesta por propuesta, política por política.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4709160"/>
            <a:ext cx="2011680" cy="0"/>
          </a:xfrm>
          <a:prstGeom prst="line">
            <a:avLst/>
          </a:prstGeom>
          <a:noFill/>
          <a:ln w="31750">
            <a:solidFill>
              <a:srgbClr val="3A8B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Inteligencia ACA · Demo en vivo disponible · Metodología documentada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papel a la política pública — Sistema de Inteligencia ACA</dc:title>
  <dc:subject>PptxGenJS Presentation</dc:subject>
  <dc:creator>Academia de Centroamérica</dc:creator>
  <cp:lastModifiedBy>Academia de Centroamérica</cp:lastModifiedBy>
  <cp:revision>1</cp:revision>
  <dcterms:created xsi:type="dcterms:W3CDTF">2026-08-21T13:49:06Z</dcterms:created>
  <dcterms:modified xsi:type="dcterms:W3CDTF">2026-08-21T13:49:06Z</dcterms:modified>
</cp:coreProperties>
</file>